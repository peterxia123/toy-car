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91640"/>
            <a:ext cx="10972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MVA Validator</a:t>
            </a:r>
          </a:p>
          <a:p>
            <a:pPr algn="l">
              <a:spcBef>
                <a:spcPts val="1600"/>
              </a:spcBef>
              <a:defRPr sz="1800">
                <a:solidFill>
                  <a:srgbClr val="95A5A6"/>
                </a:solidFill>
              </a:defRPr>
            </a:pPr>
            <a:r>
              <a:t>Automated Performance Data Validation for IFRS 9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Starting Point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447800"/>
            <a:ext cx="127000" cy="1270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74980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C3E50"/>
                </a:solidFill>
              </a:rPr>
              <a:t>200+ models validated per year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7F8C8D"/>
                </a:solidFill>
              </a:rPr>
              <a:t>Every model validation at IB starts with the same foundation: performance data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316480"/>
            <a:ext cx="127000" cy="1270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74980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C3E50"/>
                </a:solidFill>
              </a:rPr>
              <a:t>One consolidated dataset per portfolio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7F8C8D"/>
                </a:solidFill>
              </a:rPr>
              <a:t>All portfolios share a common perf data structure in parquet format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185160"/>
            <a:ext cx="127000" cy="1270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74980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C3E50"/>
                </a:solidFill>
              </a:rPr>
              <a:t>Data issues are the #1 source of rework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7F8C8D"/>
                </a:solidFill>
              </a:rPr>
              <a:t>Manual review of millions of observations is slow, inconsistent, and error-prone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One Command, Full Output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447800"/>
            <a:ext cx="127000" cy="1270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74980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C3E50"/>
                </a:solidFill>
              </a:rPr>
              <a:t>One parquet file + one config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7F8C8D"/>
                </a:solidFill>
              </a:rPr>
              <a:t>Point the tool at your data file and a YAML config - that's all it needs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316480"/>
            <a:ext cx="127000" cy="1270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74980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C3E50"/>
                </a:solidFill>
              </a:rPr>
              <a:t>Auto-discover issues with materiality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7F8C8D"/>
                </a:solidFill>
              </a:rPr>
              <a:t>Generates issue log with affected account %, impact level, and account-level examples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185160"/>
            <a:ext cx="127000" cy="1270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74980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C3E50"/>
                </a:solidFill>
              </a:rPr>
              <a:t>Ready for EST or validation guidance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7F8C8D"/>
                </a:solidFill>
              </a:rPr>
              <a:t>Output can go directly into the EST package, or guide targeted deep-dive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Three Categories of Checks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498DB"/>
                </a:solidFill>
              </a:defRPr>
            </a:pPr>
            <a:r>
              <a:t>Variable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182880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Data type validation</a:t>
            </a:r>
          </a:p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Missing &amp; negative values</a:t>
            </a:r>
          </a:p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Outlier detection</a:t>
            </a:r>
          </a:p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Indicator logic consistency</a:t>
            </a:r>
          </a:p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(default, closed, charge-off)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256032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554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498DB"/>
                </a:solidFill>
              </a:defRPr>
            </a:pPr>
            <a:r>
              <a:t>Trend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103120"/>
            <a:ext cx="182880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28600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Default rate trends</a:t>
            </a:r>
          </a:p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Score distribution drift</a:t>
            </a:r>
          </a:p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Attrition spike detection</a:t>
            </a:r>
          </a:p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Recovery trend monitoring</a:t>
            </a:r>
          </a:p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(data migration signals)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371600"/>
            <a:ext cx="256032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554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498DB"/>
                </a:solidFill>
              </a:defRPr>
            </a:pPr>
            <a:r>
              <a:t>Connection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03120"/>
            <a:ext cx="182880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28600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Score vs default alignment</a:t>
            </a:r>
          </a:p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Term vs maturity consistency</a:t>
            </a:r>
          </a:p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Balance vs recovery logic</a:t>
            </a:r>
          </a:p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DPD vs default status</a:t>
            </a:r>
          </a:p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(cross-variable checks)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Mapped to IFRS 9 Parameters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447800"/>
            <a:ext cx="127000" cy="1270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74980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C3E50"/>
                </a:solidFill>
              </a:rPr>
              <a:t>Tagged per parameter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7F8C8D"/>
                </a:solidFill>
              </a:rPr>
              <a:t>Every check is linked to PD, LGD, EAD, ERL, DF, or SICR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316480"/>
            <a:ext cx="127000" cy="1270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74980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C3E50"/>
                </a:solidFill>
              </a:rPr>
              <a:t>Filterable and trackable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7F8C8D"/>
                </a:solidFill>
              </a:rPr>
              <a:t>Review findings by parameter to support targeted validation per model component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185160"/>
            <a:ext cx="127000" cy="1270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74980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C3E50"/>
                </a:solidFill>
              </a:rPr>
              <a:t>Tests designed independently per parameter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7F8C8D"/>
                </a:solidFill>
              </a:rPr>
              <a:t>Each IFRS 9 parameter has its own set of checks that can be run and tracked separately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Built to Extend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447800"/>
            <a:ext cx="127000" cy="1270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74980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C3E50"/>
                </a:solidFill>
              </a:rPr>
              <a:t>Config-driven, no code changes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7F8C8D"/>
                </a:solidFill>
              </a:rPr>
              <a:t>New portfolio = new YAML file. Supports term (MG, AL, PL) and revolving (CC)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316480"/>
            <a:ext cx="127000" cy="1270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74980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C3E50"/>
                </a:solidFill>
              </a:rPr>
              <a:t>Modular architecture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7F8C8D"/>
                </a:solidFill>
              </a:rPr>
              <a:t>Easy to add new checks per category without touching existing logic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185160"/>
            <a:ext cx="127000" cy="1270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74980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C3E50"/>
                </a:solidFill>
              </a:rPr>
              <a:t>Future roadmap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7F8C8D"/>
                </a:solidFill>
              </a:rPr>
              <a:t>Plug into Commercial Banking portfolios, extend to AIRB, delta reporting across cycles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91640"/>
            <a:ext cx="10972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l">
              <a:spcBef>
                <a:spcPts val="1600"/>
              </a:spcBef>
              <a:defRPr sz="1800">
                <a:solidFill>
                  <a:srgbClr val="95A5A6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